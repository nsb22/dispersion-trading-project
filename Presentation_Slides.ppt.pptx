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5C8"/>
    <a:srgbClr val="444444"/>
    <a:srgbClr val="0A0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25"/>
    <p:restoredTop sz="96793"/>
  </p:normalViewPr>
  <p:slideViewPr>
    <p:cSldViewPr snapToGrid="0" snapToObjects="1">
      <p:cViewPr varScale="1">
        <p:scale>
          <a:sx n="170" d="100"/>
          <a:sy n="170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70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11480" y="1463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Arbitrage of</a:t>
            </a:r>
            <a:endParaRPr lang="en-GB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6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Index Volatility</a:t>
            </a:r>
            <a:endParaRPr lang="en-GB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Approach to Dispersion Trading</a:t>
            </a:r>
            <a:endParaRPr lang="en-GB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2286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Risk Management &amp; Financial Engineering  |  Applied Project  |  Quantitative Analysis</a:t>
            </a:r>
            <a:endParaRPr lang="en-GB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749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Nathan SEBBAG  |  Imperial College Business School  |  May 2026</a:t>
            </a:r>
            <a:endParaRPr lang="en-GB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817259-E613-4847-4397-F9B85E307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4558"/>
            <a:ext cx="2428921" cy="594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198488-8F8E-88A1-8653-340A9473A6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40" t="10420" r="8578" b="25147"/>
          <a:stretch>
            <a:fillRect/>
          </a:stretch>
        </p:blipFill>
        <p:spPr>
          <a:xfrm>
            <a:off x="8049718" y="220773"/>
            <a:ext cx="682802" cy="741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1">
            <a:extLst>
              <a:ext uri="{FF2B5EF4-FFF2-40B4-BE49-F238E27FC236}">
                <a16:creationId xmlns:a16="http://schemas.microsoft.com/office/drawing/2014/main" id="{315E18B1-6159-61E4-DA2B-7408B93D81A2}"/>
              </a:ext>
            </a:extLst>
          </p:cNvPr>
          <p:cNvSpPr/>
          <p:nvPr/>
        </p:nvSpPr>
        <p:spPr>
          <a:xfrm>
            <a:off x="5353887" y="2057400"/>
            <a:ext cx="1709928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0A6E"/>
          </a:solidFill>
          <a:ln w="1270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82880" y="72365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GB" sz="2800" dirty="0"/>
          </a:p>
          <a:p>
            <a:pPr marL="0" indent="0">
              <a:buNone/>
            </a:pPr>
            <a:r>
              <a:rPr lang="en-GB" sz="28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GB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Dispersion Trading?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178308" y="22357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variance of an index is NOT the simple sum of component variances, it depends on their correlations.</a:t>
            </a:r>
            <a:endParaRPr lang="en-GB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3429000"/>
            <a:ext cx="2834640" cy="822960"/>
          </a:xfrm>
          <a:prstGeom prst="rect">
            <a:avLst/>
          </a:prstGeom>
          <a:solidFill>
            <a:srgbClr val="07073E"/>
          </a:solidFill>
          <a:ln w="635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201168" y="3456432"/>
                <a:ext cx="2788920" cy="768096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950" b="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95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950" b="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𝐼𝑛𝑑𝑒𝑥</m:t>
                          </m:r>
                        </m:sub>
                        <m:sup>
                          <m:r>
                            <a:rPr lang="en-GB" sz="950" b="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950" b="0" i="1" smtClean="0">
                          <a:solidFill>
                            <a:srgbClr val="00D5C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950" b="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950" b="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GB" sz="950" b="0" i="1" smtClean="0">
                          <a:solidFill>
                            <a:srgbClr val="00D5C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95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950" i="1" smtClean="0">
                              <a:solidFill>
                                <a:srgbClr val="00D5C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95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≠ </m:t>
                              </m:r>
                              <m:r>
                                <a:rPr lang="en-GB" sz="950" b="0" i="1" smtClean="0">
                                  <a:solidFill>
                                    <a:srgbClr val="00D5C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95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GB" sz="950" b="0" i="1" smtClean="0">
                                      <a:solidFill>
                                        <a:srgbClr val="00D5C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GB" sz="950" dirty="0">
                  <a:solidFill>
                    <a:srgbClr val="00D5C8"/>
                  </a:solidFill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" y="3456432"/>
                <a:ext cx="2788920" cy="768096"/>
              </a:xfrm>
              <a:prstGeom prst="rect">
                <a:avLst/>
              </a:prstGeom>
              <a:blipFill>
                <a:blip r:embed="rId3"/>
                <a:stretch>
                  <a:fillRect t="-47541" b="-73770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3566160" y="274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0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GB" sz="2000" dirty="0"/>
          </a:p>
        </p:txBody>
      </p:sp>
      <p:sp>
        <p:nvSpPr>
          <p:cNvPr id="10" name="Shape 8"/>
          <p:cNvSpPr/>
          <p:nvPr/>
        </p:nvSpPr>
        <p:spPr>
          <a:xfrm>
            <a:off x="3566160" y="713232"/>
            <a:ext cx="5303520" cy="36576"/>
          </a:xfrm>
          <a:prstGeom prst="rect">
            <a:avLst/>
          </a:prstGeom>
          <a:solidFill>
            <a:srgbClr val="0A0A6E"/>
          </a:solidFill>
          <a:ln w="1270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Shape 9"/>
          <p:cNvSpPr/>
          <p:nvPr/>
        </p:nvSpPr>
        <p:spPr>
          <a:xfrm>
            <a:off x="3566160" y="868680"/>
            <a:ext cx="5303520" cy="1005840"/>
          </a:xfrm>
          <a:prstGeom prst="rect">
            <a:avLst/>
          </a:prstGeom>
          <a:solidFill>
            <a:srgbClr val="0A0A6E"/>
          </a:solidFill>
          <a:ln w="1270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3703320" y="896112"/>
            <a:ext cx="5029200" cy="9509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GB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Random Matrix Theory-filtered correlation matrices and Deep Learning regime prediction improve the risk-adjusted performance of a systematic Dispersion strategy on the S&amp;P 500?</a:t>
            </a:r>
            <a:endParaRPr lang="en-GB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057400"/>
            <a:ext cx="1709928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3611880" y="212140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GB" sz="2200" dirty="0"/>
          </a:p>
        </p:txBody>
      </p:sp>
      <p:sp>
        <p:nvSpPr>
          <p:cNvPr id="15" name="Text 13"/>
          <p:cNvSpPr/>
          <p:nvPr/>
        </p:nvSpPr>
        <p:spPr>
          <a:xfrm>
            <a:off x="3611880" y="251460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</a:t>
            </a:r>
            <a:endParaRPr lang="en-GB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816352"/>
            <a:ext cx="612648" cy="2743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5"/>
          <p:cNvSpPr/>
          <p:nvPr/>
        </p:nvSpPr>
        <p:spPr>
          <a:xfrm>
            <a:off x="3639312" y="2907792"/>
            <a:ext cx="1563624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GB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vol on SPX components · Short vol on SPX index · Delta &amp; Vega neutral portfolio</a:t>
            </a:r>
            <a:endParaRPr lang="en-GB" sz="950" dirty="0"/>
          </a:p>
        </p:txBody>
      </p:sp>
      <p:sp>
        <p:nvSpPr>
          <p:cNvPr id="19" name="Text 17"/>
          <p:cNvSpPr/>
          <p:nvPr/>
        </p:nvSpPr>
        <p:spPr>
          <a:xfrm>
            <a:off x="5413248" y="212140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GB" sz="2200" dirty="0">
              <a:solidFill>
                <a:srgbClr val="0A0A6E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13248" y="251460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</a:t>
            </a:r>
            <a:endParaRPr lang="en-GB" sz="1100" dirty="0">
              <a:solidFill>
                <a:srgbClr val="0A0A6E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16168" y="2816352"/>
            <a:ext cx="612648" cy="2743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2" name="Text 20"/>
          <p:cNvSpPr/>
          <p:nvPr/>
        </p:nvSpPr>
        <p:spPr>
          <a:xfrm>
            <a:off x="5440680" y="2907792"/>
            <a:ext cx="1563624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/>
            <a:r>
              <a:rPr lang="en-GB" sz="95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Market systematically overprices implied correlation · Exploitable Correlation Risk Premium (Driessen et al., 2009)</a:t>
            </a:r>
          </a:p>
        </p:txBody>
      </p:sp>
      <p:sp>
        <p:nvSpPr>
          <p:cNvPr id="23" name="Shape 21"/>
          <p:cNvSpPr/>
          <p:nvPr/>
        </p:nvSpPr>
        <p:spPr>
          <a:xfrm>
            <a:off x="7168896" y="2057400"/>
            <a:ext cx="1709928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Text 22"/>
          <p:cNvSpPr/>
          <p:nvPr/>
        </p:nvSpPr>
        <p:spPr>
          <a:xfrm>
            <a:off x="7214616" y="2121408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2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GB" sz="2200" dirty="0"/>
          </a:p>
        </p:txBody>
      </p:sp>
      <p:sp>
        <p:nvSpPr>
          <p:cNvPr id="25" name="Text 23"/>
          <p:cNvSpPr/>
          <p:nvPr/>
        </p:nvSpPr>
        <p:spPr>
          <a:xfrm>
            <a:off x="7214616" y="251460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</a:t>
            </a:r>
            <a:endParaRPr lang="en-GB" sz="1100" dirty="0"/>
          </a:p>
        </p:txBody>
      </p:sp>
      <p:sp>
        <p:nvSpPr>
          <p:cNvPr id="26" name="Shape 24"/>
          <p:cNvSpPr/>
          <p:nvPr/>
        </p:nvSpPr>
        <p:spPr>
          <a:xfrm>
            <a:off x="7717536" y="2816352"/>
            <a:ext cx="612648" cy="2743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7" name="Text 25"/>
          <p:cNvSpPr/>
          <p:nvPr/>
        </p:nvSpPr>
        <p:spPr>
          <a:xfrm>
            <a:off x="7242048" y="2907792"/>
            <a:ext cx="1563624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GB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Matrix Theory to clean 50×50 correlation matrices · LSTM/</a:t>
            </a:r>
            <a:r>
              <a:rPr lang="en-GB" sz="95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GB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predict regime shifts</a:t>
            </a:r>
            <a:endParaRPr lang="en-GB" sz="9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13E9F38-3E25-9981-8A50-BC13DF57A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66787"/>
            <a:ext cx="1312389" cy="321143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B5714DD4-F5EC-406D-FD9B-CB75A29445F0}"/>
              </a:ext>
            </a:extLst>
          </p:cNvPr>
          <p:cNvSpPr/>
          <p:nvPr/>
        </p:nvSpPr>
        <p:spPr>
          <a:xfrm>
            <a:off x="178308" y="4728551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Nathan SEBBAG |  May 2026</a:t>
            </a:r>
            <a:endParaRPr lang="en-GB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Literature</a:t>
            </a:r>
            <a:endParaRPr lang="en-GB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38912" cy="438912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GB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179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Strategy</a:t>
            </a:r>
            <a:endParaRPr lang="en-GB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000" dirty="0">
                <a:solidFill>
                  <a:srgbClr val="B2F0EC"/>
                </a:solidFill>
                <a:latin typeface="Arial" pitchFamily="34" charset="0"/>
                <a:cs typeface="Arial" pitchFamily="34" charset="-120"/>
              </a:rPr>
              <a:t>SPX Index vs. 50 Components Straddles</a:t>
            </a:r>
          </a:p>
          <a:p>
            <a:r>
              <a:rPr lang="en-GB" sz="1000" dirty="0">
                <a:solidFill>
                  <a:srgbClr val="B2F0EC"/>
                </a:solidFill>
                <a:latin typeface="Arial" pitchFamily="34" charset="0"/>
                <a:cs typeface="Arial" pitchFamily="34" charset="-120"/>
              </a:rPr>
              <a:t>Delta-neutral rebalancing (Bloomberg API)</a:t>
            </a:r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438912" cy="438912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GB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112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RMT Filtering</a:t>
            </a:r>
            <a:endParaRPr lang="en-GB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isolation via Marchenko-</a:t>
            </a:r>
            <a:r>
              <a:rPr lang="en-GB" sz="1000" dirty="0" err="1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Pastur</a:t>
            </a:r>
            <a:r>
              <a:rPr lang="en-GB" sz="10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law 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 clipping on </a:t>
            </a:r>
            <a:r>
              <a:rPr lang="en-GB" sz="1000" dirty="0" err="1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GB" sz="10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₅₀ₓ₅₀</a:t>
            </a:r>
            <a:endParaRPr lang="en-GB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54096"/>
            <a:ext cx="438912" cy="438912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411480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GB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044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Signal Layer</a:t>
            </a:r>
            <a:endParaRPr lang="en-GB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310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LSTM: Predict implied vs. realized correlation spread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B2F0EC"/>
                </a:solidFill>
                <a:latin typeface="Arial" pitchFamily="34" charset="0"/>
                <a:cs typeface="Arial" pitchFamily="34" charset="-120"/>
              </a:rPr>
              <a:t>K-Means: Market regime clustering</a:t>
            </a:r>
            <a:endParaRPr lang="en-GB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438912" cy="438912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Text 16"/>
          <p:cNvSpPr/>
          <p:nvPr/>
        </p:nvSpPr>
        <p:spPr>
          <a:xfrm>
            <a:off x="411480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GB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dirty="0" err="1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</a:t>
            </a:r>
            <a:r>
              <a:rPr lang="en-GB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Engine</a:t>
            </a:r>
            <a:endParaRPr lang="en-GB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2428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Python environment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B2F0EC"/>
                </a:solidFill>
                <a:latin typeface="Arial" pitchFamily="34" charset="0"/>
                <a:cs typeface="Arial" pitchFamily="34" charset="-120"/>
              </a:rPr>
              <a:t>Includes transaction costs &amp; P&amp;L attribution</a:t>
            </a:r>
            <a:endParaRPr lang="en-GB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1097280"/>
            <a:ext cx="36576" cy="36576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2" name="Text 20"/>
          <p:cNvSpPr/>
          <p:nvPr/>
        </p:nvSpPr>
        <p:spPr>
          <a:xfrm>
            <a:off x="562356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Literature</a:t>
            </a:r>
            <a:endParaRPr lang="en-GB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1508760"/>
            <a:ext cx="137160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Text 22"/>
          <p:cNvSpPr/>
          <p:nvPr/>
        </p:nvSpPr>
        <p:spPr>
          <a:xfrm>
            <a:off x="5623560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GB" sz="800" dirty="0"/>
          </a:p>
        </p:txBody>
      </p:sp>
      <p:sp>
        <p:nvSpPr>
          <p:cNvPr id="25" name="Text 23"/>
          <p:cNvSpPr/>
          <p:nvPr/>
        </p:nvSpPr>
        <p:spPr>
          <a:xfrm>
            <a:off x="5623560" y="1892827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Driessen, Maenhout &amp; Vilkov (2009) — Price of Correlation Risk</a:t>
            </a:r>
            <a:endParaRPr lang="en-GB" sz="900" dirty="0"/>
          </a:p>
        </p:txBody>
      </p:sp>
      <p:sp>
        <p:nvSpPr>
          <p:cNvPr id="28" name="Shape 26"/>
          <p:cNvSpPr/>
          <p:nvPr/>
        </p:nvSpPr>
        <p:spPr>
          <a:xfrm>
            <a:off x="5623560" y="2424371"/>
            <a:ext cx="137160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9" name="Text 27"/>
          <p:cNvSpPr/>
          <p:nvPr/>
        </p:nvSpPr>
        <p:spPr>
          <a:xfrm>
            <a:off x="5623560" y="242437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MODELS</a:t>
            </a:r>
            <a:endParaRPr lang="en-GB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281299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GB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Bergomi</a:t>
            </a: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(2015) — Stochastic Volatility </a:t>
            </a:r>
            <a:r>
              <a:rPr lang="en-GB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GB" sz="900" dirty="0"/>
          </a:p>
        </p:txBody>
      </p:sp>
      <p:sp>
        <p:nvSpPr>
          <p:cNvPr id="32" name="Shape 30"/>
          <p:cNvSpPr/>
          <p:nvPr/>
        </p:nvSpPr>
        <p:spPr>
          <a:xfrm>
            <a:off x="5623560" y="3281240"/>
            <a:ext cx="137160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3" name="Text 31"/>
          <p:cNvSpPr/>
          <p:nvPr/>
        </p:nvSpPr>
        <p:spPr>
          <a:xfrm>
            <a:off x="5623560" y="3281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RMT &amp; MATRICES</a:t>
            </a:r>
            <a:endParaRPr lang="en-GB" sz="800" dirty="0"/>
          </a:p>
        </p:txBody>
      </p:sp>
      <p:sp>
        <p:nvSpPr>
          <p:cNvPr id="34" name="Text 32"/>
          <p:cNvSpPr/>
          <p:nvPr/>
        </p:nvSpPr>
        <p:spPr>
          <a:xfrm>
            <a:off x="5623560" y="366670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Bouchaud &amp; Potters — Financial Applications of RMT</a:t>
            </a:r>
            <a:endParaRPr lang="en-GB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4105637"/>
            <a:ext cx="137160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7" name="Text 35"/>
          <p:cNvSpPr/>
          <p:nvPr/>
        </p:nvSpPr>
        <p:spPr>
          <a:xfrm>
            <a:off x="5623560" y="410563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 FINANCE</a:t>
            </a:r>
            <a:endParaRPr lang="en-GB" sz="800" dirty="0"/>
          </a:p>
        </p:txBody>
      </p:sp>
      <p:sp>
        <p:nvSpPr>
          <p:cNvPr id="38" name="Text 36"/>
          <p:cNvSpPr/>
          <p:nvPr/>
        </p:nvSpPr>
        <p:spPr>
          <a:xfrm>
            <a:off x="5623560" y="4489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Gu, Kelly &amp; Xiu (2020) — Asset Pricing via ML</a:t>
            </a:r>
            <a:endParaRPr lang="en-GB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FBAE7F4-FA8A-D42E-162D-A846F0F8A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9773"/>
            <a:ext cx="1312389" cy="321143"/>
          </a:xfrm>
          <a:prstGeom prst="rect">
            <a:avLst/>
          </a:prstGeom>
        </p:spPr>
      </p:pic>
      <p:sp>
        <p:nvSpPr>
          <p:cNvPr id="42" name="Text 9">
            <a:extLst>
              <a:ext uri="{FF2B5EF4-FFF2-40B4-BE49-F238E27FC236}">
                <a16:creationId xmlns:a16="http://schemas.microsoft.com/office/drawing/2014/main" id="{56A3F5C2-2B64-49F6-F1B3-8272F34044D5}"/>
              </a:ext>
            </a:extLst>
          </p:cNvPr>
          <p:cNvSpPr/>
          <p:nvPr/>
        </p:nvSpPr>
        <p:spPr>
          <a:xfrm>
            <a:off x="411480" y="480060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Nathan SEBBAG |  May 2026</a:t>
            </a:r>
            <a:endParaRPr lang="en-GB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">
            <a:extLst>
              <a:ext uri="{FF2B5EF4-FFF2-40B4-BE49-F238E27FC236}">
                <a16:creationId xmlns:a16="http://schemas.microsoft.com/office/drawing/2014/main" id="{1331BA53-98E7-677A-B6E6-ECA5F47EDF38}"/>
              </a:ext>
            </a:extLst>
          </p:cNvPr>
          <p:cNvSpPr/>
          <p:nvPr/>
        </p:nvSpPr>
        <p:spPr>
          <a:xfrm>
            <a:off x="2561815" y="1031623"/>
            <a:ext cx="1920240" cy="2377440"/>
          </a:xfrm>
          <a:prstGeom prst="rect">
            <a:avLst/>
          </a:prstGeom>
          <a:solidFill>
            <a:srgbClr val="E8F4FD"/>
          </a:solidFill>
          <a:ln w="1524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0A6E"/>
          </a:solidFill>
          <a:ln w="1270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Expected Contribution</a:t>
            </a:r>
            <a:endParaRPr lang="en-GB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8321040" cy="36576"/>
          </a:xfrm>
          <a:prstGeom prst="rect">
            <a:avLst/>
          </a:prstGeom>
          <a:solidFill>
            <a:srgbClr val="0A0A6E"/>
          </a:solidFill>
          <a:ln w="1270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1920239" cy="2377440"/>
          </a:xfrm>
          <a:prstGeom prst="rect">
            <a:avLst/>
          </a:prstGeom>
          <a:solidFill>
            <a:srgbClr val="E8F4FD"/>
          </a:solidFill>
          <a:ln w="1524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1920239" cy="2926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1920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– JUNE</a:t>
            </a:r>
            <a:endParaRPr lang="en-GB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706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GB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91056"/>
            <a:ext cx="1706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5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GB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1024127" cy="2743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174955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data extraction · Maths derivation (</a:t>
            </a:r>
            <a:r>
              <a:rPr lang="en-GB" sz="9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Itô</a:t>
            </a:r>
            <a:r>
              <a:rPr lang="en-GB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P&amp;L) · Baseline </a:t>
            </a:r>
            <a:r>
              <a:rPr lang="en-GB" sz="9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</a:t>
            </a:r>
            <a:endParaRPr lang="en-GB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1031398"/>
            <a:ext cx="1920240" cy="2926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6" name="Text 14"/>
          <p:cNvSpPr/>
          <p:nvPr/>
        </p:nvSpPr>
        <p:spPr>
          <a:xfrm>
            <a:off x="2560320" y="103139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– JULY</a:t>
            </a:r>
            <a:endParaRPr lang="en-GB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1397158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0A0A6E"/>
                </a:solidFill>
                <a:latin typeface="Arial" pitchFamily="34" charset="0"/>
                <a:cs typeface="Arial" pitchFamily="34" charset="-120"/>
              </a:rPr>
              <a:t>Phase</a:t>
            </a:r>
            <a:r>
              <a:rPr lang="en-GB" sz="900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sz="900" dirty="0">
                <a:solidFill>
                  <a:srgbClr val="0A0A6E"/>
                </a:solidFill>
                <a:latin typeface="Arial" pitchFamily="34" charset="0"/>
                <a:cs typeface="Arial" pitchFamily="34" charset="-120"/>
              </a:rPr>
              <a:t>2</a:t>
            </a:r>
          </a:p>
        </p:txBody>
      </p:sp>
      <p:sp>
        <p:nvSpPr>
          <p:cNvPr id="18" name="Text 16"/>
          <p:cNvSpPr/>
          <p:nvPr/>
        </p:nvSpPr>
        <p:spPr>
          <a:xfrm>
            <a:off x="2651760" y="1598326"/>
            <a:ext cx="170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500" b="1" dirty="0">
                <a:solidFill>
                  <a:srgbClr val="0A0A6E"/>
                </a:solidFill>
                <a:latin typeface="Arial" pitchFamily="34" charset="0"/>
                <a:cs typeface="Arial" pitchFamily="34" charset="-120"/>
              </a:rPr>
              <a:t>RMT</a:t>
            </a:r>
            <a:r>
              <a:rPr lang="en-GB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sz="1500" b="1" dirty="0">
                <a:solidFill>
                  <a:srgbClr val="0A0A6E"/>
                </a:solidFill>
                <a:latin typeface="Arial" pitchFamily="34" charset="0"/>
                <a:cs typeface="Arial" pitchFamily="34" charset="-120"/>
              </a:rPr>
              <a:t>Layer</a:t>
            </a:r>
          </a:p>
        </p:txBody>
      </p:sp>
      <p:sp>
        <p:nvSpPr>
          <p:cNvPr id="19" name="Shape 17"/>
          <p:cNvSpPr/>
          <p:nvPr/>
        </p:nvSpPr>
        <p:spPr>
          <a:xfrm>
            <a:off x="2651760" y="1945798"/>
            <a:ext cx="1024128" cy="2743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0" name="Text 18"/>
          <p:cNvSpPr/>
          <p:nvPr/>
        </p:nvSpPr>
        <p:spPr>
          <a:xfrm>
            <a:off x="2651760" y="2037238"/>
            <a:ext cx="1749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9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Marchenko-</a:t>
            </a:r>
            <a:r>
              <a:rPr lang="en-GB" sz="900" dirty="0" err="1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Pastur</a:t>
            </a:r>
            <a:r>
              <a:rPr lang="en-GB" sz="9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 filtering · Clean </a:t>
            </a:r>
            <a:r>
              <a:rPr lang="en-GB" sz="900" dirty="0" err="1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Σ</a:t>
            </a:r>
            <a:r>
              <a:rPr lang="en-GB" sz="9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 matrix · Performance comparison</a:t>
            </a:r>
          </a:p>
        </p:txBody>
      </p:sp>
      <p:sp>
        <p:nvSpPr>
          <p:cNvPr id="22" name="Shape 20"/>
          <p:cNvSpPr/>
          <p:nvPr/>
        </p:nvSpPr>
        <p:spPr>
          <a:xfrm>
            <a:off x="4709160" y="1024128"/>
            <a:ext cx="1920239" cy="2377440"/>
          </a:xfrm>
          <a:prstGeom prst="rect">
            <a:avLst/>
          </a:prstGeom>
          <a:solidFill>
            <a:srgbClr val="E8F4FD"/>
          </a:solidFill>
          <a:ln w="1524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1920239" cy="2926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Text 22"/>
          <p:cNvSpPr/>
          <p:nvPr/>
        </p:nvSpPr>
        <p:spPr>
          <a:xfrm>
            <a:off x="4709160" y="1024128"/>
            <a:ext cx="1920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GB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1389888"/>
            <a:ext cx="1706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GB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1591056"/>
            <a:ext cx="1706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5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Signal</a:t>
            </a:r>
            <a:endParaRPr lang="en-GB" sz="1500" dirty="0"/>
          </a:p>
        </p:txBody>
      </p:sp>
      <p:sp>
        <p:nvSpPr>
          <p:cNvPr id="27" name="Shape 25"/>
          <p:cNvSpPr/>
          <p:nvPr/>
        </p:nvSpPr>
        <p:spPr>
          <a:xfrm>
            <a:off x="4800600" y="1938528"/>
            <a:ext cx="1024127" cy="2743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/>
          <p:nvPr/>
        </p:nvSpPr>
        <p:spPr>
          <a:xfrm>
            <a:off x="4800600" y="2029968"/>
            <a:ext cx="174955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training · </a:t>
            </a:r>
            <a:r>
              <a:rPr lang="en-GB" sz="9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GB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· Regime clustering (K-Means)</a:t>
            </a:r>
            <a:endParaRPr lang="en-GB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024128"/>
            <a:ext cx="1920240" cy="2377440"/>
          </a:xfrm>
          <a:prstGeom prst="rect">
            <a:avLst/>
          </a:prstGeom>
          <a:solidFill>
            <a:srgbClr val="E8F4FD"/>
          </a:solidFill>
          <a:ln w="1524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1" name="Shape 29"/>
          <p:cNvSpPr/>
          <p:nvPr/>
        </p:nvSpPr>
        <p:spPr>
          <a:xfrm>
            <a:off x="6858000" y="1024128"/>
            <a:ext cx="1920240" cy="2926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2" name="Text 30"/>
          <p:cNvSpPr/>
          <p:nvPr/>
        </p:nvSpPr>
        <p:spPr>
          <a:xfrm>
            <a:off x="6858000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8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– AUG</a:t>
            </a:r>
            <a:endParaRPr lang="en-GB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1389888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GB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1591056"/>
            <a:ext cx="170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500" b="1" dirty="0">
                <a:solidFill>
                  <a:srgbClr val="0A0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Write-up</a:t>
            </a:r>
            <a:endParaRPr lang="en-GB" sz="1500" dirty="0"/>
          </a:p>
        </p:txBody>
      </p:sp>
      <p:sp>
        <p:nvSpPr>
          <p:cNvPr id="35" name="Shape 33"/>
          <p:cNvSpPr/>
          <p:nvPr/>
        </p:nvSpPr>
        <p:spPr>
          <a:xfrm>
            <a:off x="6949440" y="1938528"/>
            <a:ext cx="1024128" cy="2743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6" name="Text 34"/>
          <p:cNvSpPr/>
          <p:nvPr/>
        </p:nvSpPr>
        <p:spPr>
          <a:xfrm>
            <a:off x="6949440" y="2029968"/>
            <a:ext cx="1749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</a:t>
            </a:r>
            <a:r>
              <a:rPr lang="en-GB" sz="9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</a:t>
            </a:r>
            <a:r>
              <a:rPr lang="en-GB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Risk attribution · Report submission (Aug 12)</a:t>
            </a:r>
            <a:endParaRPr lang="en-GB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547871"/>
            <a:ext cx="8321040" cy="1482431"/>
          </a:xfrm>
          <a:prstGeom prst="rect">
            <a:avLst/>
          </a:prstGeom>
          <a:solidFill>
            <a:srgbClr val="0A0A6E"/>
          </a:solidFill>
          <a:ln w="12700">
            <a:solidFill>
              <a:srgbClr val="0A0A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8" name="Text 36"/>
          <p:cNvSpPr/>
          <p:nvPr/>
        </p:nvSpPr>
        <p:spPr>
          <a:xfrm>
            <a:off x="64008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b="1" dirty="0">
                <a:solidFill>
                  <a:srgbClr val="00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Contribution</a:t>
            </a:r>
            <a:endParaRPr lang="en-GB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3977640"/>
            <a:ext cx="201168" cy="20116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Text 38"/>
          <p:cNvSpPr/>
          <p:nvPr/>
        </p:nvSpPr>
        <p:spPr>
          <a:xfrm>
            <a:off x="9144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alpha generation framework for correlation risk premium</a:t>
            </a:r>
            <a:endParaRPr lang="en-GB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3977640"/>
            <a:ext cx="201168" cy="20116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2" name="Text 40"/>
          <p:cNvSpPr/>
          <p:nvPr/>
        </p:nvSpPr>
        <p:spPr>
          <a:xfrm>
            <a:off x="36576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RMT-ML pipeline for volatility regime prediction</a:t>
            </a:r>
            <a:endParaRPr lang="en-GB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3977640"/>
            <a:ext cx="201168" cy="20116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4" name="Text 42"/>
          <p:cNvSpPr/>
          <p:nvPr/>
        </p:nvSpPr>
        <p:spPr>
          <a:xfrm>
            <a:off x="64008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tool for Vol desks at multi-strategy hedge funds</a:t>
            </a:r>
            <a:endParaRPr lang="en-GB" sz="9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D98AF2FF-8E3F-5B67-FFC1-0EA99E13A724}"/>
              </a:ext>
            </a:extLst>
          </p:cNvPr>
          <p:cNvSpPr/>
          <p:nvPr/>
        </p:nvSpPr>
        <p:spPr>
          <a:xfrm>
            <a:off x="548640" y="468283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B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Nathan SEBBAG |  May 2026</a:t>
            </a:r>
            <a:endParaRPr lang="en-GB" sz="11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87A11B8-E26F-937F-B501-7C1DA33E2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748"/>
            <a:ext cx="1312389" cy="3211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398</Words>
  <Application>Microsoft Macintosh PowerPoint</Application>
  <PresentationFormat>On-screen Show (16:9)</PresentationFormat>
  <Paragraphs>75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Dispersion Trading – Applied Project</dc:title>
  <dc:subject>PptxGenJS Presentation</dc:subject>
  <dc:creator>PptxGenJS</dc:creator>
  <cp:lastModifiedBy>MEETING PLACE</cp:lastModifiedBy>
  <cp:revision>10</cp:revision>
  <dcterms:created xsi:type="dcterms:W3CDTF">2026-05-04T13:45:38Z</dcterms:created>
  <dcterms:modified xsi:type="dcterms:W3CDTF">2026-05-05T08:06:33Z</dcterms:modified>
</cp:coreProperties>
</file>